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defRPr sz="3200" b="1">
                <a:solidFill>
                  <a:srgbClr val="000000"/>
                </a:solidFill>
              </a:defRPr>
            </a:pPr>
            <a:r>
              <a:t>AUTHORIZED RESELLER VERIFICATION ADVISORY</a:t>
            </a:r>
          </a:p>
          <a:p>
            <a:pPr>
              <a:defRPr sz="1600">
                <a:solidFill>
                  <a:srgbClr val="505050"/>
                </a:solidFill>
              </a:defRPr>
            </a:pPr>
            <a:r>
              <a:t>Official Customer Guidance</a:t>
            </a:r>
          </a:p>
        </p:txBody>
      </p:sp>
      <p:sp>
        <p:nvSpPr>
          <p:cNvPr id="3" name="Rectangle 2"/>
          <p:cNvSpPr/>
          <p:nvPr/>
        </p:nvSpPr>
        <p:spPr>
          <a:xfrm>
            <a:off x="731520" y="1600200"/>
            <a:ext cx="1828800" cy="381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0" y="457200"/>
            <a:ext cx="3657600" cy="457200"/>
          </a:xfrm>
          <a:prstGeom prst="rect">
            <a:avLst/>
          </a:prstGeom>
          <a:noFill/>
        </p:spPr>
        <p:txBody>
          <a:bodyPr wrap="none">
            <a:spAutoFit/>
          </a:bodyPr>
          <a:lstStyle/>
          <a:p>
            <a:pPr algn="r">
              <a:defRPr sz="1000">
                <a:solidFill>
                  <a:srgbClr val="808080"/>
                </a:solidFill>
              </a:defRPr>
            </a:pPr>
            <a:r>
              <a:t>Document IP-001  |  Rev. 1.0  |  2026</a:t>
            </a:r>
          </a:p>
        </p:txBody>
      </p:sp>
      <p:sp>
        <p:nvSpPr>
          <p:cNvPr id="5" name="TextBox 4"/>
          <p:cNvSpPr txBox="1"/>
          <p:nvPr/>
        </p:nvSpPr>
        <p:spPr>
          <a:xfrm>
            <a:off x="731520" y="1920240"/>
            <a:ext cx="10698480" cy="1371600"/>
          </a:xfrm>
          <a:prstGeom prst="rect">
            <a:avLst/>
          </a:prstGeom>
          <a:noFill/>
        </p:spPr>
        <p:txBody>
          <a:bodyPr wrap="square">
            <a:spAutoFit/>
          </a:bodyPr>
          <a:lstStyle/>
          <a:p>
            <a:pPr>
              <a:defRPr sz="1800" b="1"/>
            </a:pPr>
            <a:r>
              <a:t>Executive Summary</a:t>
            </a:r>
          </a:p>
          <a:p>
            <a:pPr>
              <a:spcBef>
                <a:spcPts val="800"/>
              </a:spcBef>
              <a:defRPr sz="1400">
                <a:solidFill>
                  <a:srgbClr val="505050"/>
                </a:solidFill>
              </a:defRPr>
            </a:pPr>
            <a:r>
              <a:t>Rentar Environmental Solutions maintains an authorized global distribution network to ensure that every customer receives genuine Rentar Fuel Catalyst products backed by factory technical support, current documentation, and warranty coverage. Verification protects customers from unauthorized representation and helps maintain performance, safety, and reliability standards.</a:t>
            </a:r>
          </a:p>
        </p:txBody>
      </p:sp>
      <p:sp>
        <p:nvSpPr>
          <p:cNvPr id="6" name="TextBox 5"/>
          <p:cNvSpPr txBox="1"/>
          <p:nvPr/>
        </p:nvSpPr>
        <p:spPr>
          <a:xfrm>
            <a:off x="731520" y="3017520"/>
            <a:ext cx="10698480" cy="1097280"/>
          </a:xfrm>
          <a:prstGeom prst="rect">
            <a:avLst/>
          </a:prstGeom>
          <a:noFill/>
        </p:spPr>
        <p:txBody>
          <a:bodyPr wrap="square">
            <a:spAutoFit/>
          </a:bodyPr>
          <a:lstStyle/>
          <a:p>
            <a:pPr>
              <a:defRPr sz="1800" b="1"/>
            </a:pPr>
            <a:r>
              <a:t>Intellectual Property Protection</a:t>
            </a:r>
          </a:p>
          <a:p>
            <a:pPr>
              <a:spcBef>
                <a:spcPts val="800"/>
              </a:spcBef>
              <a:defRPr sz="1300">
                <a:solidFill>
                  <a:srgbClr val="505050"/>
                </a:solidFill>
              </a:defRPr>
            </a:pPr>
            <a:r>
              <a:t>Rentar technology is protected through applicable patents, trademarks, proprietary know-how, and contractual rights. Unauthorized commercial representation may violate applicable laws.</a:t>
            </a:r>
          </a:p>
        </p:txBody>
      </p:sp>
      <p:sp>
        <p:nvSpPr>
          <p:cNvPr id="7" name="Rectangle 6"/>
          <p:cNvSpPr/>
          <p:nvPr/>
        </p:nvSpPr>
        <p:spPr>
          <a:xfrm>
            <a:off x="731520" y="4389120"/>
            <a:ext cx="3474720" cy="2011680"/>
          </a:xfrm>
          <a:prstGeom prst="rect">
            <a:avLst/>
          </a:prstGeom>
          <a:solidFill>
            <a:srgbClr val="F8F8F8"/>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400" b="1"/>
            </a:pPr>
            <a:r>
              <a:t>Genuine Product</a:t>
            </a:r>
          </a:p>
          <a:p>
            <a:pPr>
              <a:spcBef>
                <a:spcPts val="800"/>
              </a:spcBef>
              <a:defRPr sz="1200">
                <a:solidFill>
                  <a:srgbClr val="505050"/>
                </a:solidFill>
              </a:defRPr>
            </a:pPr>
            <a:r>
              <a:t>Verification ensures authentic Rentar products manufactured to specification.</a:t>
            </a:r>
          </a:p>
        </p:txBody>
      </p:sp>
      <p:sp>
        <p:nvSpPr>
          <p:cNvPr id="8" name="Rectangle 7"/>
          <p:cNvSpPr/>
          <p:nvPr/>
        </p:nvSpPr>
        <p:spPr>
          <a:xfrm>
            <a:off x="4480559" y="4389120"/>
            <a:ext cx="3474720" cy="2011680"/>
          </a:xfrm>
          <a:prstGeom prst="rect">
            <a:avLst/>
          </a:prstGeom>
          <a:solidFill>
            <a:srgbClr val="F8F8F8"/>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400" b="1"/>
            </a:pPr>
            <a:r>
              <a:t>Factory Support</a:t>
            </a:r>
          </a:p>
          <a:p>
            <a:pPr>
              <a:spcBef>
                <a:spcPts val="800"/>
              </a:spcBef>
              <a:defRPr sz="1200">
                <a:solidFill>
                  <a:srgbClr val="505050"/>
                </a:solidFill>
              </a:defRPr>
            </a:pPr>
            <a:r>
              <a:t>Authorized distributors provide factory-backed technical support.</a:t>
            </a:r>
          </a:p>
        </p:txBody>
      </p:sp>
      <p:sp>
        <p:nvSpPr>
          <p:cNvPr id="9" name="Rectangle 8"/>
          <p:cNvSpPr/>
          <p:nvPr/>
        </p:nvSpPr>
        <p:spPr>
          <a:xfrm>
            <a:off x="8229600" y="4389120"/>
            <a:ext cx="3474720" cy="2011680"/>
          </a:xfrm>
          <a:prstGeom prst="rect">
            <a:avLst/>
          </a:prstGeom>
          <a:solidFill>
            <a:srgbClr val="F8F8F8"/>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400" b="1"/>
            </a:pPr>
            <a:r>
              <a:t>Warranty</a:t>
            </a:r>
          </a:p>
          <a:p>
            <a:pPr>
              <a:spcBef>
                <a:spcPts val="800"/>
              </a:spcBef>
              <a:defRPr sz="1200">
                <a:solidFill>
                  <a:srgbClr val="505050"/>
                </a:solidFill>
              </a:defRPr>
            </a:pPr>
            <a:r>
              <a:t>Products from unauthorized channels may not be eligible for warranty.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none">
            <a:spAutoFit/>
          </a:bodyPr>
          <a:lstStyle/>
          <a:p>
            <a:pPr>
              <a:defRPr sz="2400" b="1"/>
            </a:pPr>
            <a:r>
              <a:t>Five Questions Every Purchaser Should Ask</a:t>
            </a:r>
          </a:p>
        </p:txBody>
      </p:sp>
      <p:sp>
        <p:nvSpPr>
          <p:cNvPr id="3" name="Rectangle 2"/>
          <p:cNvSpPr/>
          <p:nvPr/>
        </p:nvSpPr>
        <p:spPr>
          <a:xfrm>
            <a:off x="731520" y="1188720"/>
            <a:ext cx="3200400" cy="5029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Question</a:t>
            </a:r>
          </a:p>
        </p:txBody>
      </p:sp>
      <p:sp>
        <p:nvSpPr>
          <p:cNvPr id="4" name="Rectangle 3"/>
          <p:cNvSpPr/>
          <p:nvPr/>
        </p:nvSpPr>
        <p:spPr>
          <a:xfrm>
            <a:off x="2926446491520" y="1188720"/>
            <a:ext cx="2743200" cy="5029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Purpose</a:t>
            </a:r>
          </a:p>
        </p:txBody>
      </p:sp>
      <p:sp>
        <p:nvSpPr>
          <p:cNvPr id="5" name="Rectangle 4"/>
          <p:cNvSpPr/>
          <p:nvPr/>
        </p:nvSpPr>
        <p:spPr>
          <a:xfrm>
            <a:off x="5434828571520" y="1188720"/>
            <a:ext cx="4754880" cy="5029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Expected Response</a:t>
            </a:r>
          </a:p>
        </p:txBody>
      </p:sp>
      <p:sp>
        <p:nvSpPr>
          <p:cNvPr id="6" name="Rectangle 5"/>
          <p:cNvSpPr/>
          <p:nvPr/>
        </p:nvSpPr>
        <p:spPr>
          <a:xfrm>
            <a:off x="731520" y="1691640"/>
            <a:ext cx="320040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Is your company an authorized Rentar distributor?</a:t>
            </a:r>
          </a:p>
        </p:txBody>
      </p:sp>
      <p:sp>
        <p:nvSpPr>
          <p:cNvPr id="7" name="Rectangle 6"/>
          <p:cNvSpPr/>
          <p:nvPr/>
        </p:nvSpPr>
        <p:spPr>
          <a:xfrm>
            <a:off x="2926446491520" y="1691640"/>
            <a:ext cx="274320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Establish authorization status</a:t>
            </a:r>
          </a:p>
        </p:txBody>
      </p:sp>
      <p:sp>
        <p:nvSpPr>
          <p:cNvPr id="8" name="Rectangle 7"/>
          <p:cNvSpPr/>
          <p:nvPr/>
        </p:nvSpPr>
        <p:spPr>
          <a:xfrm>
            <a:off x="5434828571520" y="1691640"/>
            <a:ext cx="475488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Yes, with written authorization from Rentar</a:t>
            </a:r>
          </a:p>
        </p:txBody>
      </p:sp>
      <p:sp>
        <p:nvSpPr>
          <p:cNvPr id="9" name="Rectangle 8"/>
          <p:cNvSpPr/>
          <p:nvPr/>
        </p:nvSpPr>
        <p:spPr>
          <a:xfrm>
            <a:off x="731520" y="2194560"/>
            <a:ext cx="3200400" cy="502920"/>
          </a:xfrm>
          <a:prstGeom prst="rect">
            <a:avLst/>
          </a:prstGeom>
          <a:solidFill>
            <a:srgbClr val="FFFFFF"/>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Can you provide written proof of authorization?</a:t>
            </a:r>
          </a:p>
        </p:txBody>
      </p:sp>
      <p:sp>
        <p:nvSpPr>
          <p:cNvPr id="10" name="Rectangle 9"/>
          <p:cNvSpPr/>
          <p:nvPr/>
        </p:nvSpPr>
        <p:spPr>
          <a:xfrm>
            <a:off x="2926446491520" y="2194560"/>
            <a:ext cx="2743200" cy="502920"/>
          </a:xfrm>
          <a:prstGeom prst="rect">
            <a:avLst/>
          </a:prstGeom>
          <a:solidFill>
            <a:srgbClr val="FFFFFF"/>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Obtain verifiable documentation</a:t>
            </a:r>
          </a:p>
        </p:txBody>
      </p:sp>
      <p:sp>
        <p:nvSpPr>
          <p:cNvPr id="11" name="Rectangle 10"/>
          <p:cNvSpPr/>
          <p:nvPr/>
        </p:nvSpPr>
        <p:spPr>
          <a:xfrm>
            <a:off x="5434828571520" y="2194560"/>
            <a:ext cx="4754880" cy="502920"/>
          </a:xfrm>
          <a:prstGeom prst="rect">
            <a:avLst/>
          </a:prstGeom>
          <a:solidFill>
            <a:srgbClr val="FFFFFF"/>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Written authorization from Rentar</a:t>
            </a:r>
          </a:p>
        </p:txBody>
      </p:sp>
      <p:sp>
        <p:nvSpPr>
          <p:cNvPr id="12" name="Rectangle 11"/>
          <p:cNvSpPr/>
          <p:nvPr/>
        </p:nvSpPr>
        <p:spPr>
          <a:xfrm>
            <a:off x="731520" y="2697480"/>
            <a:ext cx="320040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Do you source products directly from Rentar?</a:t>
            </a:r>
          </a:p>
        </p:txBody>
      </p:sp>
      <p:sp>
        <p:nvSpPr>
          <p:cNvPr id="13" name="Rectangle 12"/>
          <p:cNvSpPr/>
          <p:nvPr/>
        </p:nvSpPr>
        <p:spPr>
          <a:xfrm>
            <a:off x="2926446491520" y="2697480"/>
            <a:ext cx="274320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Confirm supply chain integrity</a:t>
            </a:r>
          </a:p>
        </p:txBody>
      </p:sp>
      <p:sp>
        <p:nvSpPr>
          <p:cNvPr id="14" name="Rectangle 13"/>
          <p:cNvSpPr/>
          <p:nvPr/>
        </p:nvSpPr>
        <p:spPr>
          <a:xfrm>
            <a:off x="5434828571520" y="2697480"/>
            <a:ext cx="475488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Yes, with traceable documentation</a:t>
            </a:r>
          </a:p>
        </p:txBody>
      </p:sp>
      <p:sp>
        <p:nvSpPr>
          <p:cNvPr id="15" name="Rectangle 14"/>
          <p:cNvSpPr/>
          <p:nvPr/>
        </p:nvSpPr>
        <p:spPr>
          <a:xfrm>
            <a:off x="731520" y="3200400"/>
            <a:ext cx="3200400" cy="502920"/>
          </a:xfrm>
          <a:prstGeom prst="rect">
            <a:avLst/>
          </a:prstGeom>
          <a:solidFill>
            <a:srgbClr val="FFFFFF"/>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Will products be eligible for warranty?</a:t>
            </a:r>
          </a:p>
        </p:txBody>
      </p:sp>
      <p:sp>
        <p:nvSpPr>
          <p:cNvPr id="16" name="Rectangle 15"/>
          <p:cNvSpPr/>
          <p:nvPr/>
        </p:nvSpPr>
        <p:spPr>
          <a:xfrm>
            <a:off x="2926446491520" y="3200400"/>
            <a:ext cx="2743200" cy="502920"/>
          </a:xfrm>
          <a:prstGeom prst="rect">
            <a:avLst/>
          </a:prstGeom>
          <a:solidFill>
            <a:srgbClr val="FFFFFF"/>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Protect investment and support access</a:t>
            </a:r>
          </a:p>
        </p:txBody>
      </p:sp>
      <p:sp>
        <p:nvSpPr>
          <p:cNvPr id="17" name="Rectangle 16"/>
          <p:cNvSpPr/>
          <p:nvPr/>
        </p:nvSpPr>
        <p:spPr>
          <a:xfrm>
            <a:off x="5434828571520" y="3200400"/>
            <a:ext cx="4754880" cy="502920"/>
          </a:xfrm>
          <a:prstGeom prst="rect">
            <a:avLst/>
          </a:prstGeom>
          <a:solidFill>
            <a:srgbClr val="FFFFFF"/>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Yes, full warranty through authorized channels</a:t>
            </a:r>
          </a:p>
        </p:txBody>
      </p:sp>
      <p:sp>
        <p:nvSpPr>
          <p:cNvPr id="18" name="Rectangle 17"/>
          <p:cNvSpPr/>
          <p:nvPr/>
        </p:nvSpPr>
        <p:spPr>
          <a:xfrm>
            <a:off x="731520" y="3703320"/>
            <a:ext cx="320040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Can I verify status directly with Rentar?</a:t>
            </a:r>
          </a:p>
        </p:txBody>
      </p:sp>
      <p:sp>
        <p:nvSpPr>
          <p:cNvPr id="19" name="Rectangle 18"/>
          <p:cNvSpPr/>
          <p:nvPr/>
        </p:nvSpPr>
        <p:spPr>
          <a:xfrm>
            <a:off x="2926446491520" y="3703320"/>
            <a:ext cx="274320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Independent verification</a:t>
            </a:r>
          </a:p>
        </p:txBody>
      </p:sp>
      <p:sp>
        <p:nvSpPr>
          <p:cNvPr id="20" name="Rectangle 19"/>
          <p:cNvSpPr/>
          <p:nvPr/>
        </p:nvSpPr>
        <p:spPr>
          <a:xfrm>
            <a:off x="5434828571520" y="3703320"/>
            <a:ext cx="4754880" cy="502920"/>
          </a:xfrm>
          <a:prstGeom prst="rect">
            <a:avLst/>
          </a:prstGeom>
          <a:solidFill>
            <a:srgbClr val="FAFAFA"/>
          </a:solidFill>
          <a:ln w="381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Yes, contact info@rentar.com</a:t>
            </a:r>
          </a:p>
        </p:txBody>
      </p:sp>
      <p:sp>
        <p:nvSpPr>
          <p:cNvPr id="21" name="Rectangle 20"/>
          <p:cNvSpPr/>
          <p:nvPr/>
        </p:nvSpPr>
        <p:spPr>
          <a:xfrm>
            <a:off x="731520" y="4206240"/>
            <a:ext cx="5029200" cy="1188720"/>
          </a:xfrm>
          <a:prstGeom prst="rect">
            <a:avLst/>
          </a:prstGeom>
          <a:solidFill>
            <a:srgbClr val="F5F5F5"/>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400" b="1"/>
            </a:pPr>
            <a:r>
              <a:t>Verify Authorization</a:t>
            </a:r>
          </a:p>
          <a:p>
            <a:pPr>
              <a:spcBef>
                <a:spcPts val="400"/>
              </a:spcBef>
              <a:defRPr sz="1100">
                <a:solidFill>
                  <a:srgbClr val="505050"/>
                </a:solidFill>
              </a:defRPr>
            </a:pPr>
            <a:r>
              <a:t>Contact info@rentar.com to verify whether a reseller is currently authorized.</a:t>
            </a:r>
          </a:p>
        </p:txBody>
      </p:sp>
      <p:sp>
        <p:nvSpPr>
          <p:cNvPr id="22" name="Rectangle 21"/>
          <p:cNvSpPr/>
          <p:nvPr/>
        </p:nvSpPr>
        <p:spPr>
          <a:xfrm>
            <a:off x="6035040" y="4206240"/>
            <a:ext cx="5394960" cy="1188720"/>
          </a:xfrm>
          <a:prstGeom prst="rect">
            <a:avLst/>
          </a:prstGeom>
          <a:solidFill>
            <a:srgbClr val="F5F5F5"/>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400" b="1"/>
            </a:pPr>
            <a:r>
              <a:t>Report Unauthorized Representation</a:t>
            </a:r>
          </a:p>
          <a:p>
            <a:pPr>
              <a:spcBef>
                <a:spcPts val="400"/>
              </a:spcBef>
              <a:defRPr sz="1100">
                <a:solidFill>
                  <a:srgbClr val="505050"/>
                </a:solidFill>
              </a:defRPr>
            </a:pPr>
            <a:r>
              <a:t>Email info@rentar.com with company name, website, quotation, sales literature, and supporting documents.</a:t>
            </a:r>
          </a:p>
        </p:txBody>
      </p:sp>
      <p:sp>
        <p:nvSpPr>
          <p:cNvPr id="23" name="TextBox 22"/>
          <p:cNvSpPr txBox="1"/>
          <p:nvPr/>
        </p:nvSpPr>
        <p:spPr>
          <a:xfrm>
            <a:off x="731520" y="5577840"/>
            <a:ext cx="10698480" cy="731520"/>
          </a:xfrm>
          <a:prstGeom prst="rect">
            <a:avLst/>
          </a:prstGeom>
          <a:noFill/>
        </p:spPr>
        <p:txBody>
          <a:bodyPr wrap="none">
            <a:spAutoFit/>
          </a:bodyPr>
          <a:lstStyle/>
          <a:p>
            <a:pPr algn="ctr">
              <a:defRPr sz="900">
                <a:solidFill>
                  <a:srgbClr val="808080"/>
                </a:solidFill>
              </a:defRPr>
            </a:pPr>
            <a:r>
              <a:t>Rentar Environmental Solutions, Inc.  |  515 N Flagler Drive, Suite 350  |  West Palm Beach, FL 33401 USA  |  info@rentar.com  |  www.rentar.com</a:t>
            </a:r>
          </a:p>
        </p:txBody>
      </p:sp>
      <p:sp>
        <p:nvSpPr>
          <p:cNvPr id="24" name="TextBox 23"/>
          <p:cNvSpPr txBox="1"/>
          <p:nvPr/>
        </p:nvSpPr>
        <p:spPr>
          <a:xfrm>
            <a:off x="731520" y="6126480"/>
            <a:ext cx="10698480" cy="457200"/>
          </a:xfrm>
          <a:prstGeom prst="rect">
            <a:avLst/>
          </a:prstGeom>
          <a:noFill/>
        </p:spPr>
        <p:txBody>
          <a:bodyPr wrap="none">
            <a:spAutoFit/>
          </a:bodyPr>
          <a:lstStyle/>
          <a:p>
            <a:pPr algn="ctr">
              <a:defRPr sz="800">
                <a:solidFill>
                  <a:srgbClr val="808080"/>
                </a:solidFill>
              </a:defRPr>
            </a:pPr>
            <a:r>
              <a:t>© 2026 Rentar Environmental Solutions, Inc.. All Rights Reserved.  |  Document IP-001  |  Rev.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